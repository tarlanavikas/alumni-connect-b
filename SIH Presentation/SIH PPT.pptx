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8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E681-38BE-3689-2FBE-A4D299A51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E9FBE916-6756-5F4E-9597-1B7080582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2607D887-8EEE-6B36-8844-7B1D4BD70E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26BAB8E7-46F2-0FCB-9ABD-E1537EA28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93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B596D-98A7-023A-E546-058EA7EB1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9BEF1BD4-377B-BA5D-B023-5AAFC94ED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FD317EA-DB85-964D-97D8-98B95F697B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B339F13A-789D-511A-4742-7D0606421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7832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ijirt.org/publishedpaper/IJIRT176769_PAPER.pdf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blockchain.oodles.io/blog/hyperledger-education-industry-cooperative-syste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TasinIshmam/blockchain-academic-certificates" TargetMode="External"/><Relationship Id="rId5" Type="http://schemas.openxmlformats.org/officeDocument/2006/relationships/hyperlink" Target="https://ijsrcseit.com/index.php/home/article/view/CSEIT25112428" TargetMode="External"/><Relationship Id="rId4" Type="http://schemas.openxmlformats.org/officeDocument/2006/relationships/hyperlink" Target="https://www.irjet.net/archives/V12/i6/IRJET-V12I639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976082" y="1699996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567731"/>
            <a:ext cx="8534400" cy="1752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Alumni Connect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676249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8115" y="641285"/>
            <a:ext cx="7829162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25017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Digital Platform </a:t>
            </a:r>
          </a:p>
          <a:p>
            <a:pPr algn="just">
              <a:lnSpc>
                <a:spcPct val="20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 for Centralized Alumni Data Management and Engagement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/>
              <a:t>Education &amp; Community Development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Tech Army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25098" y="282286"/>
            <a:ext cx="10972800" cy="747253"/>
          </a:xfrm>
        </p:spPr>
        <p:txBody>
          <a:bodyPr/>
          <a:lstStyle/>
          <a:p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TITLE: Alumni Connect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1486911"/>
            <a:ext cx="6473441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  <a:latin typeface="+mj-lt"/>
                <a:cs typeface="Arial" pitchFamily="34" charset="0"/>
              </a:rPr>
              <a:t>Proposed Solution</a:t>
            </a:r>
          </a:p>
          <a:p>
            <a:endParaRPr lang="en-US" sz="2000" u="sng" dirty="0">
              <a:solidFill>
                <a:schemeClr val="tx2"/>
              </a:solidFill>
              <a:latin typeface="+mj-lt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Centralized platform </a:t>
            </a:r>
            <a:r>
              <a:rPr lang="en-US" dirty="0"/>
              <a:t>for alumni data, career networking, and mentorship.</a:t>
            </a:r>
            <a:endParaRPr lang="en-US" dirty="0">
              <a:latin typeface="+mj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Blockchain ensures secure credentials and </a:t>
            </a:r>
            <a:r>
              <a:rPr lang="en-US" b="1" dirty="0"/>
              <a:t>transparent donation tracking.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AI</a:t>
            </a:r>
            <a:r>
              <a:rPr lang="en-US" dirty="0"/>
              <a:t> matches students with mentors, internships, and career paths.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Real-time</a:t>
            </a:r>
            <a:r>
              <a:rPr lang="en-US" dirty="0"/>
              <a:t> mentor–mentee engagement and verified achievement sharing.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Builds alumni, student, </a:t>
            </a:r>
            <a:r>
              <a:rPr lang="en-US" b="1" dirty="0">
                <a:latin typeface="+mj-lt"/>
              </a:rPr>
              <a:t>institution ecosystem</a:t>
            </a:r>
            <a:r>
              <a:rPr lang="en-US" dirty="0">
                <a:latin typeface="+mj-lt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Mentor mentee discussion &amp; </a:t>
            </a:r>
            <a:r>
              <a:rPr lang="en-IN" b="1" dirty="0">
                <a:latin typeface="+mj-lt"/>
              </a:rPr>
              <a:t>career matching</a:t>
            </a:r>
            <a:r>
              <a:rPr lang="en-IN" dirty="0">
                <a:latin typeface="+mj-lt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Drives fundraising, alumni recognition, and long-term growth</a:t>
            </a:r>
            <a:r>
              <a:rPr lang="en-IN" dirty="0">
                <a:latin typeface="+mj-lt"/>
              </a:rPr>
              <a:t>.</a:t>
            </a:r>
            <a:endParaRPr lang="en-US" dirty="0">
              <a:latin typeface="+mj-lt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Army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35084F-E5F2-FEB5-3EC0-6DCA5D9D1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419" y="1133305"/>
            <a:ext cx="4388981" cy="5223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C1F72-4D48-D545-0AA2-5E53868A7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53014864-3896-AEB7-BBBD-86BDD725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74" y="51983"/>
            <a:ext cx="10972800" cy="924233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AB00D-60C7-5196-CDB1-F97B9584C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480C1D8-C42E-DA6E-A1F7-6CF088544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91462650-F50D-3BA0-F3D3-488BFC055F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Army</a:t>
            </a:r>
            <a:endParaRPr lang="en-IN" dirty="0"/>
          </a:p>
        </p:txBody>
      </p:sp>
      <p:pic>
        <p:nvPicPr>
          <p:cNvPr id="12" name="Picture 2" descr="https://www.sih.gov.in/img1/SIH-Logo.png">
            <a:extLst>
              <a:ext uri="{FF2B5EF4-FFF2-40B4-BE49-F238E27FC236}">
                <a16:creationId xmlns:a16="http://schemas.microsoft.com/office/drawing/2014/main" id="{21BD9948-B022-8240-8BC7-E76A122BE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C1DBB6-AE62-E4FC-54DF-30AE50F8A6FE}"/>
              </a:ext>
            </a:extLst>
          </p:cNvPr>
          <p:cNvSpPr txBox="1"/>
          <p:nvPr/>
        </p:nvSpPr>
        <p:spPr>
          <a:xfrm>
            <a:off x="6830624" y="1179965"/>
            <a:ext cx="440937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Methodology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Alumni registration </a:t>
            </a:r>
            <a:r>
              <a:rPr lang="en-US" dirty="0"/>
              <a:t>:  Profile creation (verified by institution).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AI-based recommendations </a:t>
            </a:r>
            <a:r>
              <a:rPr lang="en-US" dirty="0"/>
              <a:t>(mentors, jobs, events).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Blockchain</a:t>
            </a:r>
            <a:r>
              <a:rPr lang="en-US" dirty="0"/>
              <a:t> ensures trust in donations &amp; achievements.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5D065D-2F95-3A37-EEA1-B59B280EFCBA}"/>
              </a:ext>
            </a:extLst>
          </p:cNvPr>
          <p:cNvSpPr txBox="1"/>
          <p:nvPr/>
        </p:nvSpPr>
        <p:spPr>
          <a:xfrm>
            <a:off x="482174" y="1167675"/>
            <a:ext cx="561382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Technologies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Frontend</a:t>
            </a:r>
            <a:r>
              <a:rPr lang="en-US" dirty="0"/>
              <a:t>: HTML, CSS, JavaScript,React.js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Backend</a:t>
            </a:r>
            <a:r>
              <a:rPr lang="en-US" dirty="0"/>
              <a:t>: Node.js, Express.js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Database</a:t>
            </a:r>
            <a:r>
              <a:rPr lang="en-IN" dirty="0"/>
              <a:t>: MongoDB /</a:t>
            </a:r>
            <a:r>
              <a:rPr lang="en-IN" dirty="0" err="1"/>
              <a:t>PostGREs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Blockchain</a:t>
            </a:r>
            <a:r>
              <a:rPr lang="en-US" dirty="0"/>
              <a:t>: Hyperledger for donations + certificates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Cloud</a:t>
            </a:r>
            <a:r>
              <a:rPr lang="en-IN" dirty="0"/>
              <a:t>: AWS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/>
              <a:t>Mobile</a:t>
            </a:r>
            <a:r>
              <a:rPr lang="en-IN" dirty="0"/>
              <a:t>: React </a:t>
            </a:r>
            <a:r>
              <a:rPr lang="en-IN" dirty="0" err="1"/>
              <a:t>Native,Kotlin</a:t>
            </a:r>
            <a:r>
              <a:rPr lang="en-IN" dirty="0"/>
              <a:t>, Flutter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4A2BD8-A647-3F11-A2CC-BBEA21F77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28" y="3717575"/>
            <a:ext cx="11239998" cy="311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82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Army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D0C26B-2905-DAAF-510F-17C3524F95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9773" y="1356781"/>
            <a:ext cx="5387740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Feasibility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Scalable cloud infrastructure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supports millions of alumni</a:t>
            </a:r>
            <a:r>
              <a:rPr lang="en-US" altLang="en-US" dirty="0">
                <a:latin typeface="+mj-lt"/>
              </a:rPr>
              <a:t> and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students.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Secure role-based access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ensures tailored experiences for Alumni and Students</a:t>
            </a:r>
            <a:r>
              <a:rPr lang="en-US" altLang="en-US" dirty="0">
                <a:latin typeface="+mj-l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Open-source blockchain frameworks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reduce operational costs and enable long-term scalability.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privacy compliance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aligned with blockchain and encryption.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API-based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with existing institutional systems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3BE91-834B-1E07-91A1-71C459F47502}"/>
              </a:ext>
            </a:extLst>
          </p:cNvPr>
          <p:cNvSpPr txBox="1"/>
          <p:nvPr/>
        </p:nvSpPr>
        <p:spPr>
          <a:xfrm>
            <a:off x="6515561" y="1285407"/>
            <a:ext cx="51566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Strategies to Overcome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Hybrid Access Channels</a:t>
            </a:r>
            <a:r>
              <a:rPr lang="en-IN" dirty="0"/>
              <a:t>: Mobile App + Web Portal.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Trust-building Incentives</a:t>
            </a:r>
            <a:r>
              <a:rPr lang="en-IN" dirty="0"/>
              <a:t>: Verified credentials, career matching, alumni recognition.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Privacy &amp; Security Measures</a:t>
            </a:r>
            <a:r>
              <a:rPr lang="en-IN" dirty="0"/>
              <a:t>: Blockchain-backed encryption and user-controlled data sharing.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Modular Integration</a:t>
            </a:r>
            <a:r>
              <a:rPr lang="en-IN" dirty="0"/>
              <a:t>: RESTful APIs and standardized metadata for seamless interoperability.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Engagement Loops</a:t>
            </a:r>
            <a:r>
              <a:rPr lang="en-IN" dirty="0"/>
              <a:t>: Gamified mentorship, spotlight features, and recruiter dashboards.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4A092-CECC-B164-7C0E-EC8A8EF2F223}"/>
              </a:ext>
            </a:extLst>
          </p:cNvPr>
          <p:cNvSpPr txBox="1"/>
          <p:nvPr/>
        </p:nvSpPr>
        <p:spPr>
          <a:xfrm>
            <a:off x="403122" y="4874819"/>
            <a:ext cx="111792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Potential Challenges &amp;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User adoption barriers</a:t>
            </a:r>
            <a:r>
              <a:rPr lang="en-IN" dirty="0"/>
              <a:t>: varying digital literacy among alumni and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privacy concerns</a:t>
            </a:r>
            <a:r>
              <a:rPr lang="en-IN" dirty="0"/>
              <a:t>: sensitive personal and academic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Integration complexity</a:t>
            </a:r>
            <a:r>
              <a:rPr lang="en-IN" dirty="0"/>
              <a:t>: legacy systems and fragmented databases.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Blockchain performance</a:t>
            </a:r>
            <a:r>
              <a:rPr lang="en-IN" dirty="0"/>
              <a:t>: scalability under high transaction volumes (e.g., certifications, donations).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8CE0-A833-F37E-0D58-0249445E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1C12C54D-E6B7-7D30-8A9F-5A882E44E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2373ADA8-747E-16FD-D2A7-A5BF858D3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774" y="1179965"/>
            <a:ext cx="11720712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400" b="1" dirty="0"/>
              <a:t>Impact on Target Audience</a:t>
            </a:r>
            <a:endParaRPr lang="en-US" sz="2400" b="1" dirty="0"/>
          </a:p>
          <a:p>
            <a:r>
              <a:rPr lang="en-US" b="1" dirty="0"/>
              <a:t>Students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89% of mentees report improved career clarity and quality of life through mentorship.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Students with alumni mentors are 5× more likely to secure higher-level job positions. </a:t>
            </a:r>
          </a:p>
          <a:p>
            <a:r>
              <a:rPr lang="en-US" b="1" dirty="0"/>
              <a:t>Alumni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75% of leaders credit mentorship as key to their success.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Alumni engagement increases when benefits are mobile-friendly—75% prefer digital access.</a:t>
            </a:r>
          </a:p>
          <a:p>
            <a:r>
              <a:rPr lang="en-US" b="1" dirty="0"/>
              <a:t>Institutions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Institutions with strong alumni networks see up to 2× higher fundraising success.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98% of Fortune 500 companies use mentoring programs to drive growth and retention.</a:t>
            </a:r>
          </a:p>
          <a:p>
            <a:r>
              <a:rPr lang="en-US" b="1" dirty="0"/>
              <a:t>Recruiters</a:t>
            </a:r>
            <a:r>
              <a:rPr lang="en-US" dirty="0"/>
              <a:t>:</a:t>
            </a:r>
          </a:p>
          <a:p>
            <a:r>
              <a:rPr lang="en-US" dirty="0"/>
              <a:t>71% of mentored individuals report higher job satisfaction, aiding long-term retention.</a:t>
            </a:r>
          </a:p>
          <a:p>
            <a:pPr lvl="0" algn="just"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A63C8-DBEE-409A-ADCA-2D746D31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D986443-1372-8EED-DC79-3A04DEC97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05F78427-197E-EB2B-8835-A9F99A68E2A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Tech Army</a:t>
            </a:r>
            <a:endParaRPr lang="en-IN" dirty="0"/>
          </a:p>
        </p:txBody>
      </p:sp>
      <p:pic>
        <p:nvPicPr>
          <p:cNvPr id="9" name="Picture 2" descr="https://www.sih.gov.in/img1/SIH-Logo.png">
            <a:extLst>
              <a:ext uri="{FF2B5EF4-FFF2-40B4-BE49-F238E27FC236}">
                <a16:creationId xmlns:a16="http://schemas.microsoft.com/office/drawing/2014/main" id="{AF3151CE-CBB2-D0DA-B755-C42BCB72A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317681-7E5F-4C26-2D35-47CDAD886BD8}"/>
              </a:ext>
            </a:extLst>
          </p:cNvPr>
          <p:cNvSpPr txBox="1"/>
          <p:nvPr/>
        </p:nvSpPr>
        <p:spPr>
          <a:xfrm>
            <a:off x="943897" y="56830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46C7394-E3BC-B29D-4D33-B236ABCF635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93659" y="5050207"/>
            <a:ext cx="1180468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Benefits: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Social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Builds trust and empowers students through inclusive, verified mentorship and alumni engagement.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Economic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Enhances career outcomes and fundraising efficiency, unlocking global opportunities and institutional growth.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Technological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Drives innovation with blockchain-backed credentials, AI-powered matchmaking, and seamless system integration.</a:t>
            </a:r>
          </a:p>
        </p:txBody>
      </p:sp>
    </p:spTree>
    <p:extLst>
      <p:ext uri="{BB962C8B-B14F-4D97-AF65-F5344CB8AC3E}">
        <p14:creationId xmlns:p14="http://schemas.microsoft.com/office/powerpoint/2010/main" val="493950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Tech Army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5493EC-A812-3A5C-3985-9F0E4CE553FE}"/>
              </a:ext>
            </a:extLst>
          </p:cNvPr>
          <p:cNvSpPr txBox="1"/>
          <p:nvPr/>
        </p:nvSpPr>
        <p:spPr>
          <a:xfrm>
            <a:off x="439382" y="1197849"/>
            <a:ext cx="697414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Topic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Hyperledger Fabric for Educational Credential Verification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AI-Powered Mentorship &amp; Career Matching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Blockchain in Alumni Engagement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Role-Based Access &amp; Data Privacy in Academic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Integration of APIs in Institutional Alumni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sz="2400" b="1" dirty="0"/>
              <a:t>Review</a:t>
            </a:r>
          </a:p>
          <a:p>
            <a:r>
              <a:rPr lang="en-IN" dirty="0"/>
              <a:t>Case Study: </a:t>
            </a:r>
            <a:r>
              <a:rPr lang="en-IN" i="1" dirty="0" err="1"/>
              <a:t>AlumniConnect</a:t>
            </a:r>
            <a:r>
              <a:rPr lang="en-IN" i="1" dirty="0"/>
              <a:t> – AI-enhanced alumni-student networking platform</a:t>
            </a:r>
            <a:endParaRPr lang="en-IN" dirty="0"/>
          </a:p>
          <a:p>
            <a:r>
              <a:rPr lang="en-IN" dirty="0"/>
              <a:t>Analytical Paper: </a:t>
            </a:r>
            <a:r>
              <a:rPr lang="en-IN" i="1" dirty="0"/>
              <a:t>Enhancing Career Development through Alumni Engagement Platforms</a:t>
            </a:r>
            <a:endParaRPr lang="en-IN" dirty="0"/>
          </a:p>
          <a:p>
            <a:r>
              <a:rPr lang="en-IN" dirty="0"/>
              <a:t>Implementation: </a:t>
            </a:r>
            <a:r>
              <a:rPr lang="en-IN" i="1" dirty="0"/>
              <a:t>Blockchain-based Academic Certificate Verification using Hyperledger Fabric</a:t>
            </a:r>
            <a:endParaRPr lang="en-IN" dirty="0"/>
          </a:p>
          <a:p>
            <a:r>
              <a:rPr lang="en-IN" dirty="0"/>
              <a:t>Architecture: </a:t>
            </a:r>
            <a:r>
              <a:rPr lang="en-IN" i="1" dirty="0"/>
              <a:t>Education-to-Employment Verification System with Hyperledger Fabric</a:t>
            </a:r>
            <a:endParaRPr lang="en-IN" dirty="0"/>
          </a:p>
          <a:p>
            <a:r>
              <a:rPr lang="en-IN" dirty="0"/>
              <a:t>Platform Design: </a:t>
            </a:r>
            <a:r>
              <a:rPr lang="en-IN" i="1" dirty="0"/>
              <a:t>Alumni Interconnect System for Secure Mentorship &amp; Networking</a:t>
            </a:r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1C4DE8-2BFB-A27F-F525-C0CD93342BFC}"/>
              </a:ext>
            </a:extLst>
          </p:cNvPr>
          <p:cNvSpPr txBox="1"/>
          <p:nvPr/>
        </p:nvSpPr>
        <p:spPr>
          <a:xfrm>
            <a:off x="7413522" y="1319136"/>
            <a:ext cx="407116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References: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hlinkClick r:id="rId4"/>
              </a:rPr>
              <a:t>IRJET-V12I639.pdf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5"/>
              </a:rPr>
              <a:t>Enhancing Career Development through Alumni Engagement Platforms: An Analytical | International Journal of Scientific Research in Computer Science, Engineering and Information Technology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hlinkClick r:id="rId6"/>
              </a:rPr>
              <a:t>TasinIshmam</a:t>
            </a:r>
            <a:r>
              <a:rPr lang="en-US" sz="1400" dirty="0">
                <a:hlinkClick r:id="rId6"/>
              </a:rPr>
              <a:t>/blockchain-academic-certificates: Academic certificate issuing and verification application using Hyperledger Fabric and Nodejs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7"/>
              </a:rPr>
              <a:t>Building Education- Employment Verification System with Fabric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hlinkClick r:id="rId8"/>
              </a:rPr>
              <a:t>Microsoft Word - paper1</a:t>
            </a:r>
            <a:endParaRPr lang="en-IN" sz="24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7752</TotalTime>
  <Words>703</Words>
  <Application>Microsoft Office PowerPoint</Application>
  <PresentationFormat>Widescreen</PresentationFormat>
  <Paragraphs>107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IDEA TITLE: Alumni Connect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 T</cp:lastModifiedBy>
  <cp:revision>150</cp:revision>
  <dcterms:created xsi:type="dcterms:W3CDTF">2013-12-12T18:46:50Z</dcterms:created>
  <dcterms:modified xsi:type="dcterms:W3CDTF">2025-09-16T20:02:08Z</dcterms:modified>
  <cp:category/>
</cp:coreProperties>
</file>